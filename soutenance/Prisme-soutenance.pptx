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besoin" id="{c8387490-12ed-41d7-8b05-12879577149d}">
          <p14:sldIdLst>
            <p14:sldId id="256"/>
          </p14:sldIdLst>
        </p14:section>
        <p14:section name="La confiance" id="{d185c7fc-8875-3caa-770d-ed78692f4186}">
          <p14:sldIdLst>
            <p14:sldId id="257"/>
          </p14:sldIdLst>
        </p14:section>
        <p14:section name="Recommandation" id="{b41ed34a-a4b7-f66b-4c35-71528c7cad09}">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TEMPS : 20 secondes.
À DIRE : « Bonjour. Mon chat s'appelle Prisme. Il aide les stagiaires de la formation. Par exemple, Léa veut savoir quand a lieu la pause : Prisme lui répond tout de suite. Je vous le montre. »
ENSUITE : DÉMO (1 minute), page déjà ouverte, npm start déjà lancé.
1) Écrire « Quand est la pause ? » et montrer que le message s'affiche et que Prisme répond.
2) Montrer les suggestions : un clic remplit le champ.
3) Cas difficile : envoyer un message vide (message clair), ou lancer avec le serveur en panne (CAPWEB_SCENARIO=500) : la page répond quand même et affiche « réponse locale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TEMPS : 1 minute 15.
À DIRE : « Vous ne devez pas me croire sur parole, ni croire l'IA. Voici trois preuves. »
1) « Trente-huit vérifications tournent toutes seules à chaque modification : elles testent les messages vides, les messages trop longs, les réponses du chat et le serveur. »
2) « Chaque fois que je modifie le projet, un robot, qu'on appelle le pipeline, vérifie tout avant d'accepter. Si quelque chose est rouge, ça n'avance pas. »
3) « J'ai contrôlé l'IA. Un jour, elle m'a fait ajouter un fichier de tests qui cassait la vérification officielle. Le contrôle est devenu rouge, je l'ai vu tout de suite et je l'ai corrigé. »
AVANT JEUDI : remplacer les deux cadres en pointillés par une capture d'écran des tests verts (npm test) et une capture de la page de suivi (pipeline 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TEMPS : 25 secondes.
À DIRE : « Ma recommandation : oui, on peut le mettre en production. Il fait ce qu'on lui demande et un robot contrôle chaque changement. Une limite : Prisme ne connaît que trois sujets, pour le reste il dit qu'il n'a pas compris. Et si ça casse, on revient à la version d'avant, on corrige et on relance les contrôles : c'est déjà arrivé le 28 octobre et on l'a résolu. Merci, je réponds à vos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IR">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LE BESOIN</a:t>
            </a:r>
            <a:endParaRPr lang="en-US" sz="1200" dirty="0"/>
          </a:p>
        </p:txBody>
      </p:sp>
      <p:sp>
        <p:nvSpPr>
          <p:cNvPr id="3" name="Titr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Prisme répond en une seconde</a:t>
            </a:r>
            <a:endParaRPr lang="en-US" sz="3400" dirty="0"/>
          </a:p>
        </p:txBody>
      </p:sp>
      <p:sp>
        <p:nvSpPr>
          <p:cNvPr id="4" name="Text 2"/>
          <p:cNvSpPr txBox="1"/>
          <p:nvPr/>
        </p:nvSpPr>
        <p:spPr>
          <a:xfrm>
            <a:off x="548640" y="1691640"/>
            <a:ext cx="4114800" cy="914400"/>
          </a:xfrm>
          <a:prstGeom prst="rect">
            <a:avLst/>
          </a:prstGeom>
          <a:noFill/>
          <a:ln/>
        </p:spPr>
        <p:txBody>
          <a:bodyPr wrap="square" lIns="0" tIns="0" rIns="0" bIns="0" rtlCol="0" anchor="t"/>
          <a:lstStyle/>
          <a:p>
            <a:pPr indent="0" marL="0">
              <a:buNone/>
            </a:pPr>
            <a:r>
              <a:rPr lang="en-US" sz="1600" dirty="0">
                <a:solidFill>
                  <a:schemeClr val="accent6"/>
                </a:solidFill>
                <a:latin typeface="Calibri" pitchFamily="34" charset="0"/>
                <a:ea typeface="Calibri" pitchFamily="34" charset="-122"/>
                <a:cs typeface="Calibri" pitchFamily="34" charset="-120"/>
              </a:rPr>
              <a:t>Un assistant de chat pour la formation : il répond aux questions sur les pauses, les objectifs et l'usage du clavier.</a:t>
            </a:r>
            <a:endParaRPr lang="en-US" sz="1600" dirty="0"/>
          </a:p>
        </p:txBody>
      </p:sp>
      <p:sp>
        <p:nvSpPr>
          <p:cNvPr id="5" name="Carte Léa"/>
          <p:cNvSpPr/>
          <p:nvPr/>
        </p:nvSpPr>
        <p:spPr>
          <a:xfrm>
            <a:off x="548640" y="2926080"/>
            <a:ext cx="4114800" cy="1691640"/>
          </a:xfrm>
          <a:prstGeom prst="roundRect">
            <a:avLst>
              <a:gd name="adj" fmla="val 6486"/>
            </a:avLst>
          </a:prstGeom>
          <a:solidFill>
            <a:schemeClr val="tx2"/>
          </a:solidFill>
          <a:ln w="12700">
            <a:solidFill>
              <a:schemeClr val="tx2"/>
            </a:solidFill>
            <a:prstDash val="solid"/>
          </a:ln>
        </p:spPr>
      </p:sp>
      <p:sp>
        <p:nvSpPr>
          <p:cNvPr id="6" name="Rond L"/>
          <p:cNvSpPr/>
          <p:nvPr/>
        </p:nvSpPr>
        <p:spPr>
          <a:xfrm>
            <a:off x="777240" y="3584448"/>
            <a:ext cx="502920" cy="502920"/>
          </a:xfrm>
          <a:prstGeom prst="ellipse">
            <a:avLst/>
          </a:prstGeom>
          <a:solidFill>
            <a:schemeClr val="accent1"/>
          </a:solidFill>
          <a:ln w="12700">
            <a:solidFill>
              <a:schemeClr val="accent1"/>
            </a:solidFill>
            <a:prstDash val="solid"/>
          </a:ln>
        </p:spPr>
      </p:sp>
      <p:sp>
        <p:nvSpPr>
          <p:cNvPr id="7" name="Text 5"/>
          <p:cNvSpPr txBox="1"/>
          <p:nvPr/>
        </p:nvSpPr>
        <p:spPr>
          <a:xfrm>
            <a:off x="777240" y="358444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L</a:t>
            </a:r>
            <a:endParaRPr lang="en-US" sz="1800" dirty="0"/>
          </a:p>
        </p:txBody>
      </p:sp>
      <p:sp>
        <p:nvSpPr>
          <p:cNvPr id="8" name="Text 6"/>
          <p:cNvSpPr txBox="1"/>
          <p:nvPr/>
        </p:nvSpPr>
        <p:spPr>
          <a:xfrm>
            <a:off x="1463040" y="3017520"/>
            <a:ext cx="3063240" cy="150876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Léa, stagiaire</a:t>
            </a:r>
            <a:endParaRPr lang="en-US" sz="1400" dirty="0"/>
          </a:p>
          <a:p>
            <a:pPr indent="0" marL="0">
              <a:buNone/>
            </a:pPr>
            <a:r>
              <a:rPr lang="en-US" sz="1400" dirty="0">
                <a:solidFill>
                  <a:schemeClr val="accent6"/>
                </a:solidFill>
                <a:latin typeface="Calibri" pitchFamily="34" charset="0"/>
                <a:ea typeface="Calibri" pitchFamily="34" charset="-122"/>
                <a:cs typeface="Calibri" pitchFamily="34" charset="-120"/>
              </a:rPr>
              <a:t>veut savoir quand a lieu la pause. Ce chat lui donne la réponse tout de suite, sans chercher ni déranger le formateur.</a:t>
            </a:r>
            <a:endParaRPr lang="en-US" sz="1400" dirty="0"/>
          </a:p>
        </p:txBody>
      </p:sp>
      <p:sp>
        <p:nvSpPr>
          <p:cNvPr id="9" name="Fenêtre de chat"/>
          <p:cNvSpPr/>
          <p:nvPr/>
        </p:nvSpPr>
        <p:spPr>
          <a:xfrm>
            <a:off x="5029200" y="1691640"/>
            <a:ext cx="3566160" cy="2926080"/>
          </a:xfrm>
          <a:prstGeom prst="roundRect">
            <a:avLst>
              <a:gd name="adj" fmla="val 4688"/>
            </a:avLst>
          </a:prstGeom>
          <a:solidFill>
            <a:schemeClr val="tx2"/>
          </a:solidFill>
          <a:ln w="12700">
            <a:solidFill>
              <a:schemeClr val="accent5"/>
            </a:solidFill>
            <a:prstDash val="solid"/>
          </a:ln>
        </p:spPr>
      </p:sp>
      <p:sp>
        <p:nvSpPr>
          <p:cNvPr id="10" name="Text 8"/>
          <p:cNvSpPr txBox="1"/>
          <p:nvPr/>
        </p:nvSpPr>
        <p:spPr>
          <a:xfrm>
            <a:off x="5257800" y="1874520"/>
            <a:ext cx="3108960" cy="32004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Prisme</a:t>
            </a:r>
            <a:endParaRPr lang="en-US" sz="1600" dirty="0"/>
          </a:p>
        </p:txBody>
      </p:sp>
      <p:sp>
        <p:nvSpPr>
          <p:cNvPr id="11" name="Bulle Léa"/>
          <p:cNvSpPr/>
          <p:nvPr/>
        </p:nvSpPr>
        <p:spPr>
          <a:xfrm>
            <a:off x="6126480" y="2377440"/>
            <a:ext cx="2240280" cy="457200"/>
          </a:xfrm>
          <a:prstGeom prst="roundRect">
            <a:avLst>
              <a:gd name="adj" fmla="val 40000"/>
            </a:avLst>
          </a:prstGeom>
          <a:solidFill>
            <a:schemeClr val="accent4"/>
          </a:solidFill>
          <a:ln w="12700">
            <a:solidFill>
              <a:schemeClr val="accent4"/>
            </a:solidFill>
            <a:prstDash val="solid"/>
          </a:ln>
        </p:spPr>
      </p:sp>
      <p:sp>
        <p:nvSpPr>
          <p:cNvPr id="12" name="Text 10"/>
          <p:cNvSpPr txBox="1"/>
          <p:nvPr/>
        </p:nvSpPr>
        <p:spPr>
          <a:xfrm>
            <a:off x="6126480" y="2377440"/>
            <a:ext cx="2240280" cy="457200"/>
          </a:xfrm>
          <a:prstGeom prst="rect">
            <a:avLst/>
          </a:prstGeom>
          <a:noFill/>
          <a:ln/>
        </p:spPr>
        <p:txBody>
          <a:bodyPr wrap="square" lIns="0" tIns="0" rIns="0" bIns="0"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Quand est la pause ?</a:t>
            </a:r>
            <a:endParaRPr lang="en-US" sz="1400" dirty="0"/>
          </a:p>
        </p:txBody>
      </p:sp>
      <p:sp>
        <p:nvSpPr>
          <p:cNvPr id="13" name="Bulle Prisme"/>
          <p:cNvSpPr/>
          <p:nvPr/>
        </p:nvSpPr>
        <p:spPr>
          <a:xfrm>
            <a:off x="5257800" y="3063240"/>
            <a:ext cx="3108960" cy="1280160"/>
          </a:xfrm>
          <a:prstGeom prst="roundRect">
            <a:avLst>
              <a:gd name="adj" fmla="val 14286"/>
            </a:avLst>
          </a:prstGeom>
          <a:solidFill>
            <a:schemeClr val="bg1"/>
          </a:solidFill>
          <a:ln w="12700">
            <a:solidFill>
              <a:schemeClr val="bg1"/>
            </a:solidFill>
            <a:prstDash val="solid"/>
          </a:ln>
        </p:spPr>
      </p:sp>
      <p:sp>
        <p:nvSpPr>
          <p:cNvPr id="14" name="Text 12"/>
          <p:cNvSpPr txBox="1"/>
          <p:nvPr/>
        </p:nvSpPr>
        <p:spPr>
          <a:xfrm>
            <a:off x="5440680" y="3154680"/>
            <a:ext cx="2743200" cy="1097280"/>
          </a:xfrm>
          <a:prstGeom prst="rect">
            <a:avLst/>
          </a:prstGeom>
          <a:noFill/>
          <a:ln/>
        </p:spPr>
        <p:txBody>
          <a:bodyPr wrap="square" lIns="0" tIns="0" rIns="0" bIns="0" rtlCol="0" anchor="ctr"/>
          <a:lstStyle/>
          <a:p>
            <a:pPr algn="l" indent="0" marL="0">
              <a:buNone/>
            </a:pPr>
            <a:r>
              <a:rPr lang="en-US" sz="1400" dirty="0">
                <a:solidFill>
                  <a:schemeClr val="tx1"/>
                </a:solidFill>
                <a:latin typeface="Calibri" pitchFamily="34" charset="0"/>
                <a:ea typeface="Calibri" pitchFamily="34" charset="-122"/>
                <a:cs typeface="Calibri" pitchFamily="34" charset="-120"/>
              </a:rPr>
              <a:t>Une pause de 10 minutes est prévue au milieu de chaque demi-journée.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POURQUOI ON PEUT AVOIR CONFIANCE</a:t>
            </a:r>
            <a:endParaRPr lang="en-US" sz="1200" dirty="0"/>
          </a:p>
        </p:txBody>
      </p:sp>
      <p:sp>
        <p:nvSpPr>
          <p:cNvPr id="3" name="Titr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Un robot vérifie chaque modification</a:t>
            </a:r>
            <a:endParaRPr lang="en-US" sz="3400" dirty="0"/>
          </a:p>
        </p:txBody>
      </p:sp>
      <p:sp>
        <p:nvSpPr>
          <p:cNvPr id="4" name="Carte preuve 1"/>
          <p:cNvSpPr/>
          <p:nvPr/>
        </p:nvSpPr>
        <p:spPr>
          <a:xfrm>
            <a:off x="548640" y="1645920"/>
            <a:ext cx="4846320" cy="868680"/>
          </a:xfrm>
          <a:prstGeom prst="roundRect">
            <a:avLst>
              <a:gd name="adj" fmla="val 10526"/>
            </a:avLst>
          </a:prstGeom>
          <a:solidFill>
            <a:schemeClr val="bg1"/>
          </a:solidFill>
          <a:ln w="12700">
            <a:solidFill>
              <a:schemeClr val="accent6"/>
            </a:solidFill>
            <a:prstDash val="solid"/>
          </a:ln>
        </p:spPr>
      </p:sp>
      <p:sp>
        <p:nvSpPr>
          <p:cNvPr id="5" name="Rond 1"/>
          <p:cNvSpPr/>
          <p:nvPr/>
        </p:nvSpPr>
        <p:spPr>
          <a:xfrm>
            <a:off x="731520" y="1828800"/>
            <a:ext cx="502920" cy="502920"/>
          </a:xfrm>
          <a:prstGeom prst="ellipse">
            <a:avLst/>
          </a:prstGeom>
          <a:solidFill>
            <a:schemeClr val="accent3"/>
          </a:solidFill>
          <a:ln w="12700">
            <a:solidFill>
              <a:schemeClr val="accent3"/>
            </a:solidFill>
            <a:prstDash val="solid"/>
          </a:ln>
        </p:spPr>
      </p:sp>
      <p:sp>
        <p:nvSpPr>
          <p:cNvPr id="6" name="Text 4"/>
          <p:cNvSpPr txBox="1"/>
          <p:nvPr/>
        </p:nvSpPr>
        <p:spPr>
          <a:xfrm>
            <a:off x="731520" y="18288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417320" y="1709928"/>
            <a:ext cx="3840480" cy="740664"/>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38 vérifications automatiques</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Elles tournent toutes seules à chaque modification.</a:t>
            </a:r>
            <a:endParaRPr lang="en-US" sz="1600" dirty="0"/>
          </a:p>
        </p:txBody>
      </p:sp>
      <p:sp>
        <p:nvSpPr>
          <p:cNvPr id="8" name="Carte preuve 2"/>
          <p:cNvSpPr/>
          <p:nvPr/>
        </p:nvSpPr>
        <p:spPr>
          <a:xfrm>
            <a:off x="548640" y="2651760"/>
            <a:ext cx="4846320" cy="868680"/>
          </a:xfrm>
          <a:prstGeom prst="roundRect">
            <a:avLst>
              <a:gd name="adj" fmla="val 10526"/>
            </a:avLst>
          </a:prstGeom>
          <a:solidFill>
            <a:schemeClr val="bg1"/>
          </a:solidFill>
          <a:ln w="12700">
            <a:solidFill>
              <a:schemeClr val="accent6"/>
            </a:solidFill>
            <a:prstDash val="solid"/>
          </a:ln>
        </p:spPr>
      </p:sp>
      <p:sp>
        <p:nvSpPr>
          <p:cNvPr id="9" name="Rond 2"/>
          <p:cNvSpPr/>
          <p:nvPr/>
        </p:nvSpPr>
        <p:spPr>
          <a:xfrm>
            <a:off x="731520" y="2834640"/>
            <a:ext cx="502920" cy="502920"/>
          </a:xfrm>
          <a:prstGeom prst="ellipse">
            <a:avLst/>
          </a:prstGeom>
          <a:solidFill>
            <a:schemeClr val="accent4"/>
          </a:solidFill>
          <a:ln w="12700">
            <a:solidFill>
              <a:schemeClr val="accent4"/>
            </a:solidFill>
            <a:prstDash val="solid"/>
          </a:ln>
        </p:spPr>
      </p:sp>
      <p:sp>
        <p:nvSpPr>
          <p:cNvPr id="10" name="Text 8"/>
          <p:cNvSpPr txBox="1"/>
          <p:nvPr/>
        </p:nvSpPr>
        <p:spPr>
          <a:xfrm>
            <a:off x="731520" y="28346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1417320" y="2715768"/>
            <a:ext cx="3840480" cy="740664"/>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Un robot de contrôle (le pipeline)</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Chaque fois que je modifie, il vérifie tout avant d'accepter.</a:t>
            </a:r>
            <a:endParaRPr lang="en-US" sz="1600" dirty="0"/>
          </a:p>
        </p:txBody>
      </p:sp>
      <p:sp>
        <p:nvSpPr>
          <p:cNvPr id="12" name="Carte preuve 3"/>
          <p:cNvSpPr/>
          <p:nvPr/>
        </p:nvSpPr>
        <p:spPr>
          <a:xfrm>
            <a:off x="548640" y="3657600"/>
            <a:ext cx="4846320" cy="868680"/>
          </a:xfrm>
          <a:prstGeom prst="roundRect">
            <a:avLst>
              <a:gd name="adj" fmla="val 10526"/>
            </a:avLst>
          </a:prstGeom>
          <a:solidFill>
            <a:schemeClr val="bg1"/>
          </a:solidFill>
          <a:ln w="12700">
            <a:solidFill>
              <a:schemeClr val="accent6"/>
            </a:solidFill>
            <a:prstDash val="solid"/>
          </a:ln>
        </p:spPr>
      </p:sp>
      <p:sp>
        <p:nvSpPr>
          <p:cNvPr id="13" name="Rond 3"/>
          <p:cNvSpPr/>
          <p:nvPr/>
        </p:nvSpPr>
        <p:spPr>
          <a:xfrm>
            <a:off x="731520" y="3840480"/>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731520" y="3840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1417320" y="3721608"/>
            <a:ext cx="3840480" cy="740664"/>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J'ai contrôlé l'IA</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Un fichier de tests écrit avec l'IA a fait virer le contrôle au rouge : je l'ai vu et corrigé.</a:t>
            </a:r>
            <a:endParaRPr lang="en-US" sz="1600" dirty="0"/>
          </a:p>
        </p:txBody>
      </p:sp>
      <p:sp>
        <p:nvSpPr>
          <p:cNvPr id="16" name="Emplacement capture 1"/>
          <p:cNvSpPr/>
          <p:nvPr/>
        </p:nvSpPr>
        <p:spPr>
          <a:xfrm>
            <a:off x="5669280" y="1645920"/>
            <a:ext cx="2926080" cy="1417320"/>
          </a:xfrm>
          <a:prstGeom prst="roundRect">
            <a:avLst>
              <a:gd name="adj" fmla="val 6452"/>
            </a:avLst>
          </a:prstGeom>
          <a:solidFill>
            <a:schemeClr val="bg1"/>
          </a:solidFill>
          <a:ln w="15875">
            <a:solidFill>
              <a:schemeClr val="accent5"/>
            </a:solidFill>
            <a:prstDash val="dash"/>
          </a:ln>
        </p:spPr>
      </p:sp>
      <p:sp>
        <p:nvSpPr>
          <p:cNvPr id="17" name="Text 15"/>
          <p:cNvSpPr txBox="1"/>
          <p:nvPr/>
        </p:nvSpPr>
        <p:spPr>
          <a:xfrm>
            <a:off x="5669280" y="1645920"/>
            <a:ext cx="2926080" cy="1417320"/>
          </a:xfrm>
          <a:prstGeom prst="rect">
            <a:avLst/>
          </a:prstGeom>
          <a:noFill/>
          <a:ln/>
        </p:spPr>
        <p:txBody>
          <a:bodyPr wrap="square" lIns="0" tIns="0" rIns="0" bIns="0" rtlCol="0" anchor="ctr"/>
          <a:lstStyle/>
          <a:p>
            <a:pPr algn="ctr" indent="0" marL="0">
              <a:buNone/>
            </a:pPr>
            <a:r>
              <a:rPr lang="en-US" sz="1400" dirty="0">
                <a:solidFill>
                  <a:schemeClr val="accent5"/>
                </a:solidFill>
                <a:latin typeface="Calibri" pitchFamily="34" charset="0"/>
                <a:ea typeface="Calibri" pitchFamily="34" charset="-122"/>
                <a:cs typeface="Calibri" pitchFamily="34" charset="-120"/>
              </a:rPr>
              <a:t>Capture : tests verts</a:t>
            </a:r>
            <a:endParaRPr lang="en-US" sz="1400" dirty="0"/>
          </a:p>
        </p:txBody>
      </p:sp>
      <p:sp>
        <p:nvSpPr>
          <p:cNvPr id="18" name="Emplacement capture 2"/>
          <p:cNvSpPr/>
          <p:nvPr/>
        </p:nvSpPr>
        <p:spPr>
          <a:xfrm>
            <a:off x="5669280" y="3154680"/>
            <a:ext cx="2926080" cy="1371600"/>
          </a:xfrm>
          <a:prstGeom prst="roundRect">
            <a:avLst>
              <a:gd name="adj" fmla="val 6667"/>
            </a:avLst>
          </a:prstGeom>
          <a:solidFill>
            <a:schemeClr val="bg1"/>
          </a:solidFill>
          <a:ln w="15875">
            <a:solidFill>
              <a:schemeClr val="accent5"/>
            </a:solidFill>
            <a:prstDash val="dash"/>
          </a:ln>
        </p:spPr>
      </p:sp>
      <p:sp>
        <p:nvSpPr>
          <p:cNvPr id="19" name="Text 17"/>
          <p:cNvSpPr txBox="1"/>
          <p:nvPr/>
        </p:nvSpPr>
        <p:spPr>
          <a:xfrm>
            <a:off x="5669280" y="3154680"/>
            <a:ext cx="2926080" cy="1371600"/>
          </a:xfrm>
          <a:prstGeom prst="rect">
            <a:avLst/>
          </a:prstGeom>
          <a:noFill/>
          <a:ln/>
        </p:spPr>
        <p:txBody>
          <a:bodyPr wrap="square" lIns="0" tIns="0" rIns="0" bIns="0" rtlCol="0" anchor="ctr"/>
          <a:lstStyle/>
          <a:p>
            <a:pPr algn="ctr" indent="0" marL="0">
              <a:buNone/>
            </a:pPr>
            <a:r>
              <a:rPr lang="en-US" sz="1400" dirty="0">
                <a:solidFill>
                  <a:schemeClr val="accent5"/>
                </a:solidFill>
                <a:latin typeface="Calibri" pitchFamily="34" charset="0"/>
                <a:ea typeface="Calibri" pitchFamily="34" charset="-122"/>
                <a:cs typeface="Calibri" pitchFamily="34" charset="-120"/>
              </a:rPr>
              <a:t>Capture : pipeline vert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MA RECOMMANDATION</a:t>
            </a:r>
            <a:endParaRPr lang="en-US" sz="1200" dirty="0"/>
          </a:p>
        </p:txBody>
      </p:sp>
      <p:sp>
        <p:nvSpPr>
          <p:cNvPr id="3" name="Titr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Oui, on peut le mettre en production</a:t>
            </a:r>
            <a:endParaRPr lang="en-US" sz="3400" dirty="0"/>
          </a:p>
        </p:txBody>
      </p:sp>
      <p:sp>
        <p:nvSpPr>
          <p:cNvPr id="4" name="Text 2"/>
          <p:cNvSpPr txBox="1"/>
          <p:nvPr/>
        </p:nvSpPr>
        <p:spPr>
          <a:xfrm>
            <a:off x="548640" y="1417320"/>
            <a:ext cx="8046720" cy="320040"/>
          </a:xfrm>
          <a:prstGeom prst="rect">
            <a:avLst/>
          </a:prstGeom>
          <a:noFill/>
          <a:ln/>
        </p:spPr>
        <p:txBody>
          <a:bodyPr wrap="square" lIns="0" tIns="0" rIns="0" bIns="0" rtlCol="0" anchor="ctr"/>
          <a:lstStyle/>
          <a:p>
            <a:pPr indent="0" marL="0">
              <a:buNone/>
            </a:pPr>
            <a:r>
              <a:rPr lang="en-US" sz="1400" i="1" dirty="0">
                <a:solidFill>
                  <a:schemeClr val="accent6"/>
                </a:solidFill>
                <a:latin typeface="Calibri" pitchFamily="34" charset="0"/>
                <a:ea typeface="Calibri" pitchFamily="34" charset="-122"/>
                <a:cs typeface="Calibri" pitchFamily="34" charset="-120"/>
              </a:rPr>
              <a:t>En production : quand les vrais utilisateurs s'en servent.</a:t>
            </a:r>
            <a:endParaRPr lang="en-US" sz="1400" dirty="0"/>
          </a:p>
        </p:txBody>
      </p:sp>
      <p:sp>
        <p:nvSpPr>
          <p:cNvPr id="5" name="Carte 1"/>
          <p:cNvSpPr/>
          <p:nvPr/>
        </p:nvSpPr>
        <p:spPr>
          <a:xfrm>
            <a:off x="548640" y="1965960"/>
            <a:ext cx="2514600" cy="2606040"/>
          </a:xfrm>
          <a:prstGeom prst="roundRect">
            <a:avLst>
              <a:gd name="adj" fmla="val 4364"/>
            </a:avLst>
          </a:prstGeom>
          <a:solidFill>
            <a:schemeClr val="tx2"/>
          </a:solidFill>
          <a:ln w="12700">
            <a:solidFill>
              <a:schemeClr val="tx2"/>
            </a:solidFill>
            <a:prstDash val="solid"/>
          </a:ln>
        </p:spPr>
      </p:sp>
      <p:sp>
        <p:nvSpPr>
          <p:cNvPr id="6" name="Rond 1"/>
          <p:cNvSpPr/>
          <p:nvPr/>
        </p:nvSpPr>
        <p:spPr>
          <a:xfrm>
            <a:off x="777240" y="2194560"/>
            <a:ext cx="502920" cy="502920"/>
          </a:xfrm>
          <a:prstGeom prst="ellipse">
            <a:avLst/>
          </a:prstGeom>
          <a:solidFill>
            <a:schemeClr val="accent3"/>
          </a:solidFill>
          <a:ln w="12700">
            <a:solidFill>
              <a:schemeClr val="accent3"/>
            </a:solidFill>
            <a:prstDash val="solid"/>
          </a:ln>
        </p:spPr>
      </p:sp>
      <p:sp>
        <p:nvSpPr>
          <p:cNvPr id="7" name="Text 5"/>
          <p:cNvSpPr txBox="1"/>
          <p:nvPr/>
        </p:nvSpPr>
        <p:spPr>
          <a:xfrm>
            <a:off x="777240" y="21945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8" name="Text 6"/>
          <p:cNvSpPr txBox="1"/>
          <p:nvPr/>
        </p:nvSpPr>
        <p:spPr>
          <a:xfrm>
            <a:off x="777240" y="2834640"/>
            <a:ext cx="210312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Pourquoi oui</a:t>
            </a:r>
            <a:endParaRPr lang="en-US" sz="1800" dirty="0"/>
          </a:p>
        </p:txBody>
      </p:sp>
      <p:sp>
        <p:nvSpPr>
          <p:cNvPr id="9" name="Text 7"/>
          <p:cNvSpPr txBox="1"/>
          <p:nvPr/>
        </p:nvSpPr>
        <p:spPr>
          <a:xfrm>
            <a:off x="777240" y="3246120"/>
            <a:ext cx="2103120" cy="132588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Il fait ce qu'on lui demande, et chaque changement est contrôlé par un robot.</a:t>
            </a:r>
            <a:endParaRPr lang="en-US" sz="1400" dirty="0"/>
          </a:p>
        </p:txBody>
      </p:sp>
      <p:sp>
        <p:nvSpPr>
          <p:cNvPr id="10" name="Carte 2"/>
          <p:cNvSpPr/>
          <p:nvPr/>
        </p:nvSpPr>
        <p:spPr>
          <a:xfrm>
            <a:off x="3337560" y="1965960"/>
            <a:ext cx="2514600" cy="2606040"/>
          </a:xfrm>
          <a:prstGeom prst="roundRect">
            <a:avLst>
              <a:gd name="adj" fmla="val 4364"/>
            </a:avLst>
          </a:prstGeom>
          <a:solidFill>
            <a:schemeClr val="tx2"/>
          </a:solidFill>
          <a:ln w="12700">
            <a:solidFill>
              <a:schemeClr val="tx2"/>
            </a:solidFill>
            <a:prstDash val="solid"/>
          </a:ln>
        </p:spPr>
      </p:sp>
      <p:sp>
        <p:nvSpPr>
          <p:cNvPr id="11" name="Rond 2"/>
          <p:cNvSpPr/>
          <p:nvPr/>
        </p:nvSpPr>
        <p:spPr>
          <a:xfrm>
            <a:off x="3566160" y="2194560"/>
            <a:ext cx="502920" cy="502920"/>
          </a:xfrm>
          <a:prstGeom prst="ellipse">
            <a:avLst/>
          </a:prstGeom>
          <a:solidFill>
            <a:schemeClr val="accent2"/>
          </a:solidFill>
          <a:ln w="12700">
            <a:solidFill>
              <a:schemeClr val="accent2"/>
            </a:solidFill>
            <a:prstDash val="solid"/>
          </a:ln>
        </p:spPr>
      </p:sp>
      <p:sp>
        <p:nvSpPr>
          <p:cNvPr id="12" name="Text 10"/>
          <p:cNvSpPr txBox="1"/>
          <p:nvPr/>
        </p:nvSpPr>
        <p:spPr>
          <a:xfrm>
            <a:off x="3566160" y="21945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3566160" y="2834640"/>
            <a:ext cx="210312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Une limite connue</a:t>
            </a:r>
            <a:endParaRPr lang="en-US" sz="1800" dirty="0"/>
          </a:p>
        </p:txBody>
      </p:sp>
      <p:sp>
        <p:nvSpPr>
          <p:cNvPr id="14" name="Text 12"/>
          <p:cNvSpPr txBox="1"/>
          <p:nvPr/>
        </p:nvSpPr>
        <p:spPr>
          <a:xfrm>
            <a:off x="3566160" y="3246120"/>
            <a:ext cx="2103120" cy="132588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Prisme ne connaît que trois sujets : pause, objectif, clavier. Pour le reste, il dit qu'il n'a pas compris.</a:t>
            </a:r>
            <a:endParaRPr lang="en-US" sz="1400" dirty="0"/>
          </a:p>
        </p:txBody>
      </p:sp>
      <p:sp>
        <p:nvSpPr>
          <p:cNvPr id="15" name="Carte 3"/>
          <p:cNvSpPr/>
          <p:nvPr/>
        </p:nvSpPr>
        <p:spPr>
          <a:xfrm>
            <a:off x="6126480" y="1965960"/>
            <a:ext cx="2514600" cy="2606040"/>
          </a:xfrm>
          <a:prstGeom prst="roundRect">
            <a:avLst>
              <a:gd name="adj" fmla="val 4364"/>
            </a:avLst>
          </a:prstGeom>
          <a:solidFill>
            <a:schemeClr val="tx2"/>
          </a:solidFill>
          <a:ln w="12700">
            <a:solidFill>
              <a:schemeClr val="tx2"/>
            </a:solidFill>
            <a:prstDash val="solid"/>
          </a:ln>
        </p:spPr>
      </p:sp>
      <p:sp>
        <p:nvSpPr>
          <p:cNvPr id="16" name="Rond 3"/>
          <p:cNvSpPr/>
          <p:nvPr/>
        </p:nvSpPr>
        <p:spPr>
          <a:xfrm>
            <a:off x="6355080" y="219456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6355080" y="21945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6355080" y="2834640"/>
            <a:ext cx="2103120" cy="3657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Si ça casse</a:t>
            </a:r>
            <a:endParaRPr lang="en-US" sz="1800" dirty="0"/>
          </a:p>
        </p:txBody>
      </p:sp>
      <p:sp>
        <p:nvSpPr>
          <p:cNvPr id="19" name="Text 17"/>
          <p:cNvSpPr txBox="1"/>
          <p:nvPr/>
        </p:nvSpPr>
        <p:spPr>
          <a:xfrm>
            <a:off x="6355080" y="3246120"/>
            <a:ext cx="2103120" cy="132588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On revient à la version d'avant, on corrige, on relance les contrôles. C'est déjà arrivé et résolu le 28 octobre.</a:t>
            </a:r>
            <a:endParaRPr lang="en-US" sz="1400" dirty="0"/>
          </a:p>
        </p:txBody>
      </p:sp>
    </p:spTree>
  </p:cSld>
  <p:clrMapOvr>
    <a:masterClrMapping/>
  </p:clrMapOvr>
</p:sld>
</file>

<file path=ppt/theme/theme1.xml><?xml version="1.0" encoding="utf-8"?>
<a:theme xmlns:a="http://schemas.openxmlformats.org/drawingml/2006/main" name="Prisme">
  <a:themeElements>
    <a:clrScheme name="Prisme">
      <a:dk1>
        <a:srgbClr val="1B1F3B"/>
      </a:dk1>
      <a:lt1>
        <a:srgbClr val="FFFFFF"/>
      </a:lt1>
      <a:dk2>
        <a:srgbClr val="2B3160"/>
      </a:dk2>
      <a:lt2>
        <a:srgbClr val="F3F4FA"/>
      </a:lt2>
      <a:accent1>
        <a:srgbClr val="FF6B6B"/>
      </a:accent1>
      <a:accent2>
        <a:srgbClr val="FFC857"/>
      </a:accent2>
      <a:accent3>
        <a:srgbClr val="2EC4B6"/>
      </a:accent3>
      <a:accent4>
        <a:srgbClr val="7C83FD"/>
      </a:accent4>
      <a:accent5>
        <a:srgbClr val="6B7194"/>
      </a:accent5>
      <a:accent6>
        <a:srgbClr val="C9CCE6"/>
      </a:accent6>
      <a:hlink>
        <a:srgbClr val="7C83FD"/>
      </a:hlink>
      <a:folHlink>
        <a:srgbClr val="6B7194"/>
      </a:folHlink>
    </a:clrScheme>
    <a:fontScheme name="Pris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Prisme : soutenance</dc:title>
  <dc:subject>PptxGenJS Presentation</dc:subject>
  <dc:creator>Maria Salameh</dc:creator>
  <cp:lastModifiedBy>Maria Salameh</cp:lastModifiedBy>
  <cp:revision>1</cp:revision>
  <dcterms:created xsi:type="dcterms:W3CDTF">2026-10-28T16:17:00Z</dcterms:created>
  <dcterms:modified xsi:type="dcterms:W3CDTF">2026-10-28T16:17:00Z</dcterms:modified>
</cp:coreProperties>
</file>